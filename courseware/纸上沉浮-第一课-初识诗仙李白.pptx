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47472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417320"/>
            <a:ext cx="9144000" cy="329184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 spc="2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校本课  ·  文人专题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10515600" cy="9601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6000" b="1" spc="42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纸上沉浮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52928"/>
            <a:ext cx="1005840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600" b="0" spc="220">
                <a:solidFill>
                  <a:srgbClr val="5C544A"/>
                </a:solidFill>
                <a:latin typeface="楷体"/>
                <a:ea typeface="楷体"/>
                <a:cs typeface="楷体"/>
              </a:rPr>
              <a:t>穿越历史，与文人对话</a:t>
            </a:r>
          </a:p>
        </p:txBody>
      </p:sp>
      <p:pic>
        <p:nvPicPr>
          <p:cNvPr id="8" name="Picture 7" descr="br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01568"/>
            <a:ext cx="3840480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3657600"/>
            <a:ext cx="10058400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 spc="8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第一课  ·  课程启航，初识诗仙李白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课程开篇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课程引言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61872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82296" cy="141732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纸载千年事，墨存万古心。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607040" cy="6400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5000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山河会旧，岁月会走。文人留在纸上的温度、风骨、坦荡与坚守，永远不会消失。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82296" cy="233172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3090672"/>
            <a:ext cx="640080" cy="310896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08960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72384"/>
            <a:ext cx="41148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8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春风得意  ·  少年意气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66160"/>
            <a:ext cx="4937760" cy="14173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8000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人生高光、志向勃发、被看见的时刻。
比如：被赏识、被重用、意气风发。
古人也会有“走得顺”的时候。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80360"/>
            <a:ext cx="82296" cy="233172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3090672"/>
            <a:ext cx="640080" cy="310896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3108960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072384"/>
            <a:ext cx="41148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8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失意困顿  ·  逆境坚守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566160"/>
            <a:ext cx="4937760" cy="14173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8000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被误解、被贬谪、走投无路的时刻。
比如：被排挤、被流放，却依旧写诗。
真正的风骨，往往写在低谷里。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21808"/>
            <a:ext cx="11155680" cy="10058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5000"/>
              </a:lnSpc>
            </a:pPr>
            <a:r>
              <a:rPr sz="16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古人的一生有起有落，这些起落都写在了纸上。这门课，就是透过文字看见他们的浮与沉，也映照我们自己的少年成长。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这门课我们会做什么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80160"/>
            <a:ext cx="5440680" cy="2029968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82296" cy="2029968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536192"/>
            <a:ext cx="566928" cy="310896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54480"/>
            <a:ext cx="566928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517904"/>
            <a:ext cx="9144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1">
                <a:solidFill>
                  <a:srgbClr val="B13A2C"/>
                </a:solidFill>
                <a:latin typeface="楷体"/>
                <a:ea typeface="楷体"/>
                <a:cs typeface="楷体"/>
              </a:rPr>
              <a:t>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536192"/>
            <a:ext cx="329184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读懂人生起落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57400"/>
            <a:ext cx="4937760" cy="10515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5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看文人的高光，也看他们的低谷。
抓住一条主线：浮与沉。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40680" cy="2029968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82296" cy="2029968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536192"/>
            <a:ext cx="566928" cy="310896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54480"/>
            <a:ext cx="566928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517904"/>
            <a:ext cx="9144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1">
                <a:solidFill>
                  <a:srgbClr val="3E5263"/>
                </a:solidFill>
                <a:latin typeface="楷体"/>
                <a:ea typeface="楷体"/>
                <a:cs typeface="楷体"/>
              </a:rPr>
              <a:t>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536192"/>
            <a:ext cx="329184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品文字里的风骨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057400"/>
            <a:ext cx="4937760" cy="10515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5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不只记诗句，更要读心境。
温度、坦荡、坚守，都在字里。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40"/>
            <a:ext cx="5440680" cy="2029968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82296" cy="2029968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3776472"/>
            <a:ext cx="566928" cy="310896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794759"/>
            <a:ext cx="566928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58184"/>
            <a:ext cx="9144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1">
                <a:solidFill>
                  <a:srgbClr val="5A6B4E"/>
                </a:solidFill>
                <a:latin typeface="楷体"/>
                <a:ea typeface="楷体"/>
                <a:cs typeface="楷体"/>
              </a:rPr>
              <a:t>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776472"/>
            <a:ext cx="329184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动手做出作品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297680"/>
            <a:ext cx="4937760" cy="10515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5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文人小卡、翻翻书、A4 海报、短文。
每节课都有实实在在的产出。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20440"/>
            <a:ext cx="5440680" cy="2029968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520440"/>
            <a:ext cx="82296" cy="2029968"/>
          </a:xfrm>
          <a:prstGeom prst="rect">
            <a:avLst/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3952" y="3776472"/>
            <a:ext cx="566928" cy="310896"/>
          </a:xfrm>
          <a:prstGeom prst="roundRect">
            <a:avLst>
              <a:gd name="adj" fmla="val 40000"/>
            </a:avLst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794759"/>
            <a:ext cx="566928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758184"/>
            <a:ext cx="9144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1">
                <a:solidFill>
                  <a:srgbClr val="B0884A"/>
                </a:solidFill>
                <a:latin typeface="楷体"/>
                <a:ea typeface="楷体"/>
                <a:cs typeface="楷体"/>
              </a:rPr>
              <a:t>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776472"/>
            <a:ext cx="329184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期末集中展示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297680"/>
            <a:ext cx="4937760" cy="10515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5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班级板报 + 作品集。
把一学期的沉浮，摊在纸上。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87568"/>
            <a:ext cx="11155680" cy="6400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5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这门课不追求背诵大量知识点。认识人、读懂心、做出作品，比记条文更重要。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课程说明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授课教师：周艳颖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80160"/>
            <a:ext cx="11155680" cy="123444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82296" cy="123444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07040" cy="4114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 spc="12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以笔墨润心，以古人养气，以温柔育人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1060704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借古人的笔墨，在少年时代收获一份沉静、坦荡与坚韧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82296" cy="246888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962656"/>
            <a:ext cx="502920" cy="292608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98094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401568"/>
            <a:ext cx="3108960" cy="6400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不是为了多背诗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69080"/>
            <a:ext cx="3108960" cy="9144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0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诗词是入口，不是终点。我们要看见写诗的那个人。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74320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743200"/>
            <a:ext cx="82296" cy="246888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2962656"/>
            <a:ext cx="502920" cy="292608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98094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401568"/>
            <a:ext cx="3108960" cy="6400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不赶进度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069080"/>
            <a:ext cx="3108960" cy="9144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0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一节课不塞太多。分课时慢慢走进每一位文人。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74320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743200"/>
            <a:ext cx="82296" cy="2468880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48472" y="2962656"/>
            <a:ext cx="502920" cy="292608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2980944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401568"/>
            <a:ext cx="3108960" cy="6400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重在沉淀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069080"/>
            <a:ext cx="3108960" cy="9144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0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每一节课带走一点思考、一点感悟，比赶完流程更重要。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共同约定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校本课课堂公约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61872"/>
            <a:ext cx="11155680" cy="786384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82296" cy="786384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438912" cy="347472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99616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26463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静心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26463"/>
            <a:ext cx="7955279" cy="47548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入课即安。课堂保持沉静，不随意闲谈打闹。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30552"/>
            <a:ext cx="11155680" cy="786384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130552"/>
            <a:ext cx="82296" cy="786384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350008"/>
            <a:ext cx="438912" cy="347472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68296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95144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尊重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295144"/>
            <a:ext cx="7955279" cy="47548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尊重笔墨，尊重古人，尊重同学，尊重课堂。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99232"/>
            <a:ext cx="11155680" cy="786384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99232"/>
            <a:ext cx="82296" cy="786384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218687"/>
            <a:ext cx="438912" cy="347472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236975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163824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沉浸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163824"/>
            <a:ext cx="7955279" cy="47548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认真参与小组活动，不敷衍应付。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67911"/>
            <a:ext cx="11155680" cy="786384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67911"/>
            <a:ext cx="82296" cy="786384"/>
          </a:xfrm>
          <a:prstGeom prst="rect">
            <a:avLst/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4087368"/>
            <a:ext cx="438912" cy="347472"/>
          </a:xfrm>
          <a:prstGeom prst="roundRect">
            <a:avLst>
              <a:gd name="adj" fmla="val 40000"/>
            </a:avLst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05655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32503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收获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032503"/>
            <a:ext cx="7955279" cy="47548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每一节课，带走一点思考，一点感悟。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28032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7EBD5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956048"/>
            <a:ext cx="10607040" cy="3200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1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每节课请自备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321808"/>
            <a:ext cx="10607040" cy="7315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黑色签字笔　　彩笔 / 荧光笔　　校本专用文件夹或手账本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合作方式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小组分工（四人一组）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沿用班级四人小组。四个岗位，人人有任务，互相配合。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82296" cy="41148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828800"/>
            <a:ext cx="640080" cy="310896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47088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67712"/>
            <a:ext cx="2414016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记录员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52928"/>
            <a:ext cx="2414016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整理文人资料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383280"/>
            <a:ext cx="2340864" cy="21031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5000"/>
              </a:lnSpc>
            </a:pPr>
            <a:r>
              <a:rPr sz="14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摘抄诗句、梳理要点，把听到的、读到的变成小组共同的笔记。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627632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627632"/>
            <a:ext cx="82296" cy="411480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84448" y="1828800"/>
            <a:ext cx="640080" cy="310896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1847088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267712"/>
            <a:ext cx="2414016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素材员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852928"/>
            <a:ext cx="2414016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3E5263"/>
                </a:solidFill>
                <a:latin typeface="微软雅黑"/>
                <a:ea typeface="微软雅黑"/>
                <a:cs typeface="微软雅黑"/>
              </a:rPr>
              <a:t>搜集人物故事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383280"/>
            <a:ext cx="2340864" cy="21031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5000"/>
              </a:lnSpc>
            </a:pPr>
            <a:r>
              <a:rPr sz="14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找小故事、找金句，为后面的手卡和海报备好素材。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27632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27632"/>
            <a:ext cx="82296" cy="4114800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4807" y="1828800"/>
            <a:ext cx="640080" cy="310896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1847088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2267712"/>
            <a:ext cx="2414016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创作员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2852928"/>
            <a:ext cx="2414016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5A6B4E"/>
                </a:solidFill>
                <a:latin typeface="微软雅黑"/>
                <a:ea typeface="微软雅黑"/>
                <a:cs typeface="微软雅黑"/>
              </a:rPr>
              <a:t>绘画 · 排版 · 手作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3383280"/>
            <a:ext cx="2340864" cy="21031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5000"/>
              </a:lnSpc>
            </a:pPr>
            <a:r>
              <a:rPr sz="14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负责小卡、翻翻书、海报的画面与排版，把文字做成作品。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627632"/>
            <a:ext cx="2743200" cy="411480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627632"/>
            <a:ext cx="82296" cy="4114800"/>
          </a:xfrm>
          <a:prstGeom prst="rect">
            <a:avLst/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45168" y="1828800"/>
            <a:ext cx="640080" cy="310896"/>
          </a:xfrm>
          <a:prstGeom prst="roundRect">
            <a:avLst>
              <a:gd name="adj" fmla="val 40000"/>
            </a:avLst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1847088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267712"/>
            <a:ext cx="2414016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展示员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852928"/>
            <a:ext cx="2414016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>
                <a:solidFill>
                  <a:srgbClr val="B0884A"/>
                </a:solidFill>
                <a:latin typeface="微软雅黑"/>
                <a:ea typeface="微软雅黑"/>
                <a:cs typeface="微软雅黑"/>
              </a:rPr>
              <a:t>分享与汇报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3383280"/>
            <a:ext cx="2340864" cy="21031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5000"/>
              </a:lnSpc>
            </a:pPr>
            <a:r>
              <a:rPr sz="14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代表小组发言，把作品和思考讲清楚、讲完整。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本课人物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初识诗仙李白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 spc="160">
                <a:solidFill>
                  <a:srgbClr val="B13A2C"/>
                </a:solidFill>
                <a:latin typeface="楷体"/>
                <a:ea typeface="楷体"/>
                <a:cs typeface="楷体"/>
              </a:rPr>
              <a:t>人生有浮亦有沉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6903720" cy="443484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82296" cy="443484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64008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0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为什么第一个走进李白？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6355080" cy="34747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8000"/>
              </a:lnSpc>
            </a:pPr>
            <a:r>
              <a:rPr sz="17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李白的一生，是非常典型的「沉浮」。
少年意气、仗剑远游、供奉翰林，是浮；
遭排挤、被流放、风骨不改，是沉。
今天只做初步认识——
故事与诗词，后面用 2—3 节课慢慢精讲，不深挖。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64208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664208"/>
            <a:ext cx="82296" cy="100584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773936"/>
            <a:ext cx="36576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048256"/>
            <a:ext cx="365760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太白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779776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2779776"/>
            <a:ext cx="82296" cy="100584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889504"/>
            <a:ext cx="36576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163824"/>
            <a:ext cx="365760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青莲居士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895344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895344"/>
            <a:ext cx="82296" cy="100584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005072"/>
            <a:ext cx="36576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人称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279392"/>
            <a:ext cx="365760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诗仙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5010912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5010912"/>
            <a:ext cx="82296" cy="100584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5120640"/>
            <a:ext cx="36576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时代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5394960"/>
            <a:ext cx="365760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盛唐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人物轮廓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李白的人生轮廓（浮与沉）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353312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82296" cy="338328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554480"/>
            <a:ext cx="566928" cy="292608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39" y="1554480"/>
            <a:ext cx="640080" cy="292608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157276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75104"/>
            <a:ext cx="2523744" cy="53035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少年浮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606040"/>
            <a:ext cx="2194560" cy="19202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55000"/>
              </a:lnSpc>
            </a:pPr>
            <a:r>
              <a:rPr sz="18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天资卓绝
少年意气
胸怀壮志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353312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353312"/>
            <a:ext cx="82296" cy="3383280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84448" y="1554480"/>
            <a:ext cx="566928" cy="292608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1572768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1554480"/>
            <a:ext cx="640080" cy="292608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57276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975104"/>
            <a:ext cx="2523744" cy="53035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青年游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606040"/>
            <a:ext cx="2194560" cy="19202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55000"/>
              </a:lnSpc>
            </a:pPr>
            <a:r>
              <a:rPr sz="18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仗剑远游
遍览山河
肆意洒脱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353312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53312"/>
            <a:ext cx="82296" cy="3383280"/>
          </a:xfrm>
          <a:prstGeom prst="rect">
            <a:avLst/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7" y="1554480"/>
            <a:ext cx="566928" cy="292608"/>
          </a:xfrm>
          <a:prstGeom prst="roundRect">
            <a:avLst>
              <a:gd name="adj" fmla="val 40000"/>
            </a:avLst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1572768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554480"/>
            <a:ext cx="640080" cy="292608"/>
          </a:xfrm>
          <a:prstGeom prst="roundRect">
            <a:avLst>
              <a:gd name="adj" fmla="val 40000"/>
            </a:avLst>
          </a:prstGeom>
          <a:solidFill>
            <a:srgbClr val="B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9" y="157276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975104"/>
            <a:ext cx="2523744" cy="53035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中年浮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606040"/>
            <a:ext cx="2194560" cy="19202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55000"/>
              </a:lnSpc>
            </a:pPr>
            <a:r>
              <a:rPr sz="18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入仕长安
供奉翰林
人生高光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353312"/>
            <a:ext cx="2743200" cy="33832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1353312"/>
            <a:ext cx="82296" cy="338328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45168" y="1554480"/>
            <a:ext cx="566928" cy="292608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8" y="1572768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18520" y="1554480"/>
            <a:ext cx="640080" cy="292608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1572768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1975104"/>
            <a:ext cx="2523744" cy="53035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4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晚年沉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2606040"/>
            <a:ext cx="2194560" cy="19202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55000"/>
              </a:lnSpc>
            </a:pPr>
            <a:r>
              <a:rPr sz="18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遭排挤流放
历经磨难
风骨不改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919472"/>
            <a:ext cx="1115568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先记住这条人生线。故事与诗，后面几课再展开。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读一句，见底色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李白的人生态度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80160"/>
            <a:ext cx="11155680" cy="20116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82296" cy="201168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36192"/>
            <a:ext cx="1234440" cy="329184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234440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逆境不屈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1"/>
            <a:ext cx="6035040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600" b="0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长风破浪会有时，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6035040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600" b="0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直挂云帆济沧海。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783080"/>
            <a:ext cx="13716" cy="1188720"/>
          </a:xfrm>
          <a:prstGeom prst="rect">
            <a:avLst/>
          </a:prstGeom>
          <a:solidFill>
            <a:srgbClr val="C8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20239"/>
            <a:ext cx="4023360" cy="10515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5000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逆境里，不低头。
再难的水路，也要扬帆过去。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9000"/>
            <a:ext cx="11155680" cy="201168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82296" cy="201168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85032"/>
            <a:ext cx="1234440" cy="329184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234440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少年自信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42232"/>
            <a:ext cx="6035040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600" b="0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天生我材必有用，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6035040" cy="43891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600" b="0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千金散尽还复来。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3931920"/>
            <a:ext cx="13716" cy="1188720"/>
          </a:xfrm>
          <a:prstGeom prst="rect">
            <a:avLst/>
          </a:prstGeom>
          <a:solidFill>
            <a:srgbClr val="C8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069080"/>
            <a:ext cx="4023360" cy="10515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35000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才干在，路就在。
豪气在，就不怕从头来。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20000"/>
              </a:lnSpc>
            </a:pPr>
            <a:r>
              <a:rPr sz="15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一句写逆境里不低头，一句写少年的自信。这就是李白的底色。后面几课，我们会细细品读这两句，以及更多诗作。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本课延伸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课后小组任务：搜集李白素材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8016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82296" cy="141732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36192"/>
            <a:ext cx="1051560" cy="329184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51560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任务一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17904"/>
            <a:ext cx="2011680" cy="38404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诗句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1"/>
            <a:ext cx="10607040" cy="5029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搜集李白 3—5 句经典诗句，抄写整理。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536192"/>
            <a:ext cx="3749039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记录员主责，全组共读。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34639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34639"/>
            <a:ext cx="82296" cy="141732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090672"/>
            <a:ext cx="1051560" cy="329184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1051560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任务二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72383"/>
            <a:ext cx="2011680" cy="38404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故事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47872"/>
            <a:ext cx="10607040" cy="5029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简单搜集 1—2 个李白小故事，写短即可。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090672"/>
            <a:ext cx="3749039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素材员主责，创作员可配小插画。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8912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89120"/>
            <a:ext cx="82296" cy="1417320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645152"/>
            <a:ext cx="1051560" cy="329184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1051560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任务三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626864"/>
            <a:ext cx="2011680" cy="38404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印象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02352"/>
            <a:ext cx="10607040" cy="50292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7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你印象中的李白是什么样子？写 2—3 句话。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645152"/>
            <a:ext cx="3749039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每人先写，展示员课上汇总。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200" b="1" spc="1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往前看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0515600" cy="566928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3200" b="1" spc="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后续课程预告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291840" cy="82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98448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82296" cy="141732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01368"/>
            <a:ext cx="1965960" cy="384048"/>
          </a:xfrm>
          <a:prstGeom prst="roundRect">
            <a:avLst>
              <a:gd name="adj" fmla="val 40000"/>
            </a:avLst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19656"/>
            <a:ext cx="1965960" cy="3657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第 2—3 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5544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深度走进李白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048255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故事、诗词、人物精神。把今天的轮廓，慢慢画清楚。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5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71215"/>
            <a:ext cx="82296" cy="1417320"/>
          </a:xfrm>
          <a:prstGeom prst="rect">
            <a:avLst/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5"/>
            <a:ext cx="1965960" cy="384048"/>
          </a:xfrm>
          <a:prstGeom prst="roundRect">
            <a:avLst>
              <a:gd name="adj" fmla="val 40000"/>
            </a:avLst>
          </a:prstGeom>
          <a:solidFill>
            <a:srgbClr val="3E5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92423"/>
            <a:ext cx="1965960" cy="3657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之后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12724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走进杜甫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621023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感受另一种文人的沉浮。诗仙之后，是诗圣。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43983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14604">
            <a:solidFill>
              <a:srgbClr val="D0B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43983"/>
            <a:ext cx="82296" cy="1417320"/>
          </a:xfrm>
          <a:prstGeom prst="rect">
            <a:avLst/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946903"/>
            <a:ext cx="1965960" cy="384048"/>
          </a:xfrm>
          <a:prstGeom prst="roundRect">
            <a:avLst>
              <a:gd name="adj" fmla="val 40000"/>
            </a:avLst>
          </a:prstGeom>
          <a:solidFill>
            <a:srgbClr val="5A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1"/>
            <a:ext cx="1965960" cy="365759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300" b="1">
                <a:solidFill>
                  <a:srgbClr val="FFFCF6"/>
                </a:solidFill>
                <a:latin typeface="微软雅黑"/>
                <a:ea typeface="微软雅黑"/>
                <a:cs typeface="微软雅黑"/>
              </a:rPr>
              <a:t>学期产出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700016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2200" b="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作品留在纸上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19379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文人小卡、翻翻书、A4 海报、感悟短文、班级板报素材。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1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657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400" b="1" spc="280">
                <a:solidFill>
                  <a:srgbClr val="B13A2C"/>
                </a:solidFill>
                <a:latin typeface="微软雅黑"/>
                <a:ea typeface="微软雅黑"/>
                <a:cs typeface="微软雅黑"/>
              </a:rPr>
              <a:t>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10789920" cy="100584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4000" b="0" spc="180">
                <a:solidFill>
                  <a:srgbClr val="2B2723"/>
                </a:solidFill>
                <a:latin typeface="楷体"/>
                <a:ea typeface="楷体"/>
                <a:cs typeface="楷体"/>
              </a:rPr>
              <a:t>一纸山河，万古温柔</a:t>
            </a:r>
          </a:p>
        </p:txBody>
      </p:sp>
      <p:pic>
        <p:nvPicPr>
          <p:cNvPr id="6" name="Picture 5" descr="br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3657600" cy="91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3383280"/>
            <a:ext cx="10515600" cy="128016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45000"/>
              </a:lnSpc>
            </a:pPr>
            <a:r>
              <a:rPr sz="2400" b="0" spc="60">
                <a:solidFill>
                  <a:srgbClr val="5C544A"/>
                </a:solidFill>
                <a:latin typeface="楷体"/>
                <a:ea typeface="楷体"/>
                <a:cs typeface="楷体"/>
              </a:rPr>
              <a:t>愿我们在笔墨沉浮之中，
见天地，见众生，见自己。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10515600" cy="457200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600" b="0">
                <a:solidFill>
                  <a:srgbClr val="2B2723"/>
                </a:solidFill>
                <a:latin typeface="微软雅黑"/>
                <a:ea typeface="微软雅黑"/>
                <a:cs typeface="微软雅黑"/>
              </a:rPr>
              <a:t>下节课，我们真正走进李白。</a:t>
            </a:r>
          </a:p>
        </p:txBody>
      </p:sp>
      <p:pic>
        <p:nvPicPr>
          <p:cNvPr id="9" name="Picture 8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534924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l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纸上沉浮  ·  第一课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510528"/>
            <a:ext cx="2011680" cy="256032"/>
          </a:xfrm>
          <a:prstGeom prst="rect">
            <a:avLst/>
          </a:prstGeom>
          <a:noFill/>
        </p:spPr>
        <p:txBody>
          <a:bodyPr wrap="square" lIns="54864" rIns="54864" tIns="18288" bIns="18288"/>
          <a:lstStyle/>
          <a:p>
            <a:pPr algn="r">
              <a:spcBef>
                <a:spcPts val="0"/>
              </a:spcBef>
              <a:spcAft>
                <a:spcPts val="200"/>
              </a:spcAft>
              <a:lnSpc>
                <a:spcPct val="114999"/>
              </a:lnSpc>
            </a:pPr>
            <a:r>
              <a:rPr sz="1100" b="0">
                <a:solidFill>
                  <a:srgbClr val="5C544A"/>
                </a:solidFill>
                <a:latin typeface="微软雅黑"/>
                <a:ea typeface="微软雅黑"/>
                <a:cs typeface="微软雅黑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